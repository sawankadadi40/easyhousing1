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Ligh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DD886-F957-1520-FD37-767831E70104}" v="1" dt="2026-05-12T09:10:24.236"/>
    <p1510:client id="{C5864D44-1D25-40B3-8CC7-484A71763119}" v="8" dt="2026-05-12T06:08:37.291"/>
  </p1510:revLst>
</p1510:revInfo>
</file>

<file path=ppt/tableStyles.xml><?xml version="1.0" encoding="utf-8"?>
<a:tblStyleLst xmlns:a="http://schemas.openxmlformats.org/drawingml/2006/main" def="{D460E1AB-BB35-482C-BDDD-501A9D334DDD}">
  <a:tblStyle styleId="{D460E1AB-BB35-482C-BDDD-501A9D334D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60"/>
  </p:normalViewPr>
  <p:slideViewPr>
    <p:cSldViewPr snapToGrid="0">
      <p:cViewPr>
        <p:scale>
          <a:sx n="50" d="100"/>
          <a:sy n="50" d="100"/>
        </p:scale>
        <p:origin x="1196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kant Ukey, Aharnish" userId="017456a8-7e5e-40d9-aac6-be79acb1673d" providerId="ADAL" clId="{1CB27386-0E6D-45B3-85D3-C302F6072509}"/>
    <pc:docChg chg="undo custSel addSld delSld modSld">
      <pc:chgData name="Ravikant Ukey, Aharnish" userId="017456a8-7e5e-40d9-aac6-be79acb1673d" providerId="ADAL" clId="{1CB27386-0E6D-45B3-85D3-C302F6072509}" dt="2026-05-12T07:16:12.393" v="423"/>
      <pc:docMkLst>
        <pc:docMk/>
      </pc:docMkLst>
      <pc:sldChg chg="addSp delSp modSp mod">
        <pc:chgData name="Ravikant Ukey, Aharnish" userId="017456a8-7e5e-40d9-aac6-be79acb1673d" providerId="ADAL" clId="{1CB27386-0E6D-45B3-85D3-C302F6072509}" dt="2026-05-11T11:40:42.032" v="128" actId="20577"/>
        <pc:sldMkLst>
          <pc:docMk/>
          <pc:sldMk cId="0" sldId="262"/>
        </pc:sldMkLst>
        <pc:spChg chg="mod">
          <ac:chgData name="Ravikant Ukey, Aharnish" userId="017456a8-7e5e-40d9-aac6-be79acb1673d" providerId="ADAL" clId="{1CB27386-0E6D-45B3-85D3-C302F6072509}" dt="2026-05-11T11:40:42.032" v="128" actId="20577"/>
          <ac:spMkLst>
            <pc:docMk/>
            <pc:sldMk cId="0" sldId="262"/>
            <ac:spMk id="213" creationId="{00000000-0000-0000-0000-000000000000}"/>
          </ac:spMkLst>
        </pc:spChg>
        <pc:graphicFrameChg chg="add">
          <ac:chgData name="Ravikant Ukey, Aharnish" userId="017456a8-7e5e-40d9-aac6-be79acb1673d" providerId="ADAL" clId="{1CB27386-0E6D-45B3-85D3-C302F6072509}" dt="2026-05-11T11:38:08.461" v="29"/>
          <ac:graphicFrameMkLst>
            <pc:docMk/>
            <pc:sldMk cId="0" sldId="262"/>
            <ac:graphicFrameMk id="7" creationId="{74581D60-48DC-B63B-CA09-72B03EFB9D73}"/>
          </ac:graphicFrameMkLst>
        </pc:graphicFrameChg>
        <pc:graphicFrameChg chg="del mod modGraphic">
          <ac:chgData name="Ravikant Ukey, Aharnish" userId="017456a8-7e5e-40d9-aac6-be79acb1673d" providerId="ADAL" clId="{1CB27386-0E6D-45B3-85D3-C302F6072509}" dt="2026-05-11T11:38:03.933" v="28" actId="478"/>
          <ac:graphicFrameMkLst>
            <pc:docMk/>
            <pc:sldMk cId="0" sldId="262"/>
            <ac:graphicFrameMk id="196" creationId="{00000000-0000-0000-0000-000000000000}"/>
          </ac:graphicFrameMkLst>
        </pc:graphicFrameChg>
        <pc:picChg chg="del">
          <ac:chgData name="Ravikant Ukey, Aharnish" userId="017456a8-7e5e-40d9-aac6-be79acb1673d" providerId="ADAL" clId="{1CB27386-0E6D-45B3-85D3-C302F6072509}" dt="2026-05-11T11:35:50.926" v="1" actId="478"/>
          <ac:picMkLst>
            <pc:docMk/>
            <pc:sldMk cId="0" sldId="262"/>
            <ac:picMk id="6" creationId="{88B17F2D-4F9B-A874-0B84-69474C3D9469}"/>
          </ac:picMkLst>
        </pc:picChg>
      </pc:sldChg>
      <pc:sldChg chg="modSp mod">
        <pc:chgData name="Ravikant Ukey, Aharnish" userId="017456a8-7e5e-40d9-aac6-be79acb1673d" providerId="ADAL" clId="{1CB27386-0E6D-45B3-85D3-C302F6072509}" dt="2026-05-12T04:58:51.837" v="133" actId="1036"/>
        <pc:sldMkLst>
          <pc:docMk/>
          <pc:sldMk cId="0" sldId="265"/>
        </pc:sldMkLst>
        <pc:picChg chg="mod">
          <ac:chgData name="Ravikant Ukey, Aharnish" userId="017456a8-7e5e-40d9-aac6-be79acb1673d" providerId="ADAL" clId="{1CB27386-0E6D-45B3-85D3-C302F6072509}" dt="2026-05-12T04:58:51.837" v="133" actId="1036"/>
          <ac:picMkLst>
            <pc:docMk/>
            <pc:sldMk cId="0" sldId="265"/>
            <ac:picMk id="250" creationId="{00000000-0000-0000-0000-000000000000}"/>
          </ac:picMkLst>
        </pc:picChg>
      </pc:sldChg>
      <pc:sldChg chg="addSp delSp modSp mod">
        <pc:chgData name="Ravikant Ukey, Aharnish" userId="017456a8-7e5e-40d9-aac6-be79acb1673d" providerId="ADAL" clId="{1CB27386-0E6D-45B3-85D3-C302F6072509}" dt="2026-05-12T06:17:01.763" v="390"/>
        <pc:sldMkLst>
          <pc:docMk/>
          <pc:sldMk cId="0" sldId="266"/>
        </pc:sldMkLst>
        <pc:spChg chg="add del mod">
          <ac:chgData name="Ravikant Ukey, Aharnish" userId="017456a8-7e5e-40d9-aac6-be79acb1673d" providerId="ADAL" clId="{1CB27386-0E6D-45B3-85D3-C302F6072509}" dt="2026-05-12T06:17:01.763" v="390"/>
          <ac:spMkLst>
            <pc:docMk/>
            <pc:sldMk cId="0" sldId="266"/>
            <ac:spMk id="4" creationId="{3617E2D6-92EC-FF81-EA3B-AEF2B2892B77}"/>
          </ac:spMkLst>
        </pc:spChg>
        <pc:spChg chg="mod">
          <ac:chgData name="Ravikant Ukey, Aharnish" userId="017456a8-7e5e-40d9-aac6-be79acb1673d" providerId="ADAL" clId="{1CB27386-0E6D-45B3-85D3-C302F6072509}" dt="2026-05-12T06:09:33.948" v="382" actId="20577"/>
          <ac:spMkLst>
            <pc:docMk/>
            <pc:sldMk cId="0" sldId="266"/>
            <ac:spMk id="272" creationId="{00000000-0000-0000-0000-000000000000}"/>
          </ac:spMkLst>
        </pc:spChg>
        <pc:spChg chg="mod">
          <ac:chgData name="Ravikant Ukey, Aharnish" userId="017456a8-7e5e-40d9-aac6-be79acb1673d" providerId="ADAL" clId="{1CB27386-0E6D-45B3-85D3-C302F6072509}" dt="2026-05-12T06:06:49.503" v="259" actId="20577"/>
          <ac:spMkLst>
            <pc:docMk/>
            <pc:sldMk cId="0" sldId="266"/>
            <ac:spMk id="273" creationId="{00000000-0000-0000-0000-000000000000}"/>
          </ac:spMkLst>
        </pc:spChg>
        <pc:picChg chg="mod">
          <ac:chgData name="Ravikant Ukey, Aharnish" userId="017456a8-7e5e-40d9-aac6-be79acb1673d" providerId="ADAL" clId="{1CB27386-0E6D-45B3-85D3-C302F6072509}" dt="2026-05-12T06:16:36.884" v="388" actId="1076"/>
          <ac:picMkLst>
            <pc:docMk/>
            <pc:sldMk cId="0" sldId="266"/>
            <ac:picMk id="269" creationId="{00000000-0000-0000-0000-000000000000}"/>
          </ac:picMkLst>
        </pc:picChg>
      </pc:sldChg>
      <pc:sldChg chg="delSp modSp mod">
        <pc:chgData name="Ravikant Ukey, Aharnish" userId="017456a8-7e5e-40d9-aac6-be79acb1673d" providerId="ADAL" clId="{1CB27386-0E6D-45B3-85D3-C302F6072509}" dt="2026-05-12T07:16:12.393" v="423"/>
        <pc:sldMkLst>
          <pc:docMk/>
          <pc:sldMk cId="0" sldId="267"/>
        </pc:sldMkLst>
        <pc:spChg chg="del mod">
          <ac:chgData name="Ravikant Ukey, Aharnish" userId="017456a8-7e5e-40d9-aac6-be79acb1673d" providerId="ADAL" clId="{1CB27386-0E6D-45B3-85D3-C302F6072509}" dt="2026-05-12T07:16:12.393" v="423"/>
          <ac:spMkLst>
            <pc:docMk/>
            <pc:sldMk cId="0" sldId="267"/>
            <ac:spMk id="284" creationId="{00000000-0000-0000-0000-000000000000}"/>
          </ac:spMkLst>
        </pc:spChg>
      </pc:sldChg>
      <pc:sldChg chg="modSp del mod">
        <pc:chgData name="Ravikant Ukey, Aharnish" userId="017456a8-7e5e-40d9-aac6-be79acb1673d" providerId="ADAL" clId="{1CB27386-0E6D-45B3-85D3-C302F6072509}" dt="2026-05-12T07:15:47.884" v="392" actId="2696"/>
        <pc:sldMkLst>
          <pc:docMk/>
          <pc:sldMk cId="0" sldId="268"/>
        </pc:sldMkLst>
        <pc:spChg chg="mod">
          <ac:chgData name="Ravikant Ukey, Aharnish" userId="017456a8-7e5e-40d9-aac6-be79acb1673d" providerId="ADAL" clId="{1CB27386-0E6D-45B3-85D3-C302F6072509}" dt="2026-05-12T07:15:38.406" v="391" actId="1076"/>
          <ac:spMkLst>
            <pc:docMk/>
            <pc:sldMk cId="0" sldId="268"/>
            <ac:spMk id="304" creationId="{00000000-0000-0000-0000-000000000000}"/>
          </ac:spMkLst>
        </pc:spChg>
      </pc:sldChg>
      <pc:sldChg chg="add">
        <pc:chgData name="Ravikant Ukey, Aharnish" userId="017456a8-7e5e-40d9-aac6-be79acb1673d" providerId="ADAL" clId="{1CB27386-0E6D-45B3-85D3-C302F6072509}" dt="2026-05-11T11:35:44.571" v="0" actId="2890"/>
        <pc:sldMkLst>
          <pc:docMk/>
          <pc:sldMk cId="2157600027" sldId="269"/>
        </pc:sldMkLst>
      </pc:sldChg>
    </pc:docChg>
  </pc:docChgLst>
  <pc:docChgLst>
    <pc:chgData name="Ravikant Ukey, Aharnish" userId="S::aharnish.ravikant-ukey@capgemini.com::017456a8-7e5e-40d9-aac6-be79acb1673d" providerId="AD" clId="Web-{394DD886-F957-1520-FD37-767831E70104}"/>
    <pc:docChg chg="modSld">
      <pc:chgData name="Ravikant Ukey, Aharnish" userId="S::aharnish.ravikant-ukey@capgemini.com::017456a8-7e5e-40d9-aac6-be79acb1673d" providerId="AD" clId="Web-{394DD886-F957-1520-FD37-767831E70104}" dt="2026-05-12T09:10:24.236" v="0" actId="1076"/>
      <pc:docMkLst>
        <pc:docMk/>
      </pc:docMkLst>
      <pc:sldChg chg="modSp">
        <pc:chgData name="Ravikant Ukey, Aharnish" userId="S::aharnish.ravikant-ukey@capgemini.com::017456a8-7e5e-40d9-aac6-be79acb1673d" providerId="AD" clId="Web-{394DD886-F957-1520-FD37-767831E70104}" dt="2026-05-12T09:10:24.236" v="0" actId="1076"/>
        <pc:sldMkLst>
          <pc:docMk/>
          <pc:sldMk cId="0" sldId="259"/>
        </pc:sldMkLst>
        <pc:picChg chg="mod">
          <ac:chgData name="Ravikant Ukey, Aharnish" userId="S::aharnish.ravikant-ukey@capgemini.com::017456a8-7e5e-40d9-aac6-be79acb1673d" providerId="AD" clId="Web-{394DD886-F957-1520-FD37-767831E70104}" dt="2026-05-12T09:10:24.236" v="0" actId="1076"/>
          <ac:picMkLst>
            <pc:docMk/>
            <pc:sldMk cId="0" sldId="259"/>
            <ac:picMk id="12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031313E-FC5D-E56B-A2A7-6D4340CE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>
            <a:extLst>
              <a:ext uri="{FF2B5EF4-FFF2-40B4-BE49-F238E27FC236}">
                <a16:creationId xmlns:a16="http://schemas.microsoft.com/office/drawing/2014/main" id="{5F2D3C0D-0FF4-4B86-F0E1-F935BA896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CBBF507D-4850-F740-2145-31985820F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693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571500" y="164782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Easy Housing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 Solutions (EHS)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71925"/>
            <a:ext cx="110490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70AD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.NET CORE AZURE SPRINT | Capgemini Case Study Implementation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2920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Enterprise Level Property Management System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3872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EB46B7C-1D37-9DAC-7CA8-4092A368E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3869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52500" y="2711903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Divyanshu Agarwal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6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2337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Aharnish Ukey</a:t>
            </a:r>
            <a:endParaRPr sz="16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70998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Meneni</a:t>
            </a: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Narasimha</a:t>
            </a:r>
            <a:endParaRPr sz="16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1862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Shaik Ashraf</a:t>
            </a:r>
            <a:endParaRPr sz="16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66248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Basani</a:t>
            </a: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Charan Teja</a:t>
            </a:r>
            <a:endParaRPr sz="1600"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90662"/>
            <a:ext cx="5334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955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1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480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24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700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PROJECT TEAM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8CDBA36-89BB-C30A-F3E0-40854F46C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750E45-8E6D-5176-7674-A06110E0D610}"/>
              </a:ext>
            </a:extLst>
          </p:cNvPr>
          <p:cNvSpPr txBox="1"/>
          <p:nvPr/>
        </p:nvSpPr>
        <p:spPr>
          <a:xfrm>
            <a:off x="879022" y="5157266"/>
            <a:ext cx="6204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Harshavardhan </a:t>
            </a:r>
            <a:r>
              <a:rPr lang="en-US" sz="1600" b="1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Nooka</a:t>
            </a:r>
            <a:endParaRPr lang="en-IN" sz="1600" dirty="0"/>
          </a:p>
        </p:txBody>
      </p:sp>
      <p:pic>
        <p:nvPicPr>
          <p:cNvPr id="5" name="Google Shape;102;p14" descr="image.png">
            <a:extLst>
              <a:ext uri="{FF2B5EF4-FFF2-40B4-BE49-F238E27FC236}">
                <a16:creationId xmlns:a16="http://schemas.microsoft.com/office/drawing/2014/main" id="{07F99A74-25A0-DF8C-1D18-B8D6EF64D22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76837"/>
            <a:ext cx="285750" cy="3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14" descr="image.png">
            <a:extLst>
              <a:ext uri="{FF2B5EF4-FFF2-40B4-BE49-F238E27FC236}">
                <a16:creationId xmlns:a16="http://schemas.microsoft.com/office/drawing/2014/main" id="{D9278D51-1DF8-4275-5227-8152EE84EC5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632" y="56530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2F150-6DD8-BBC4-DB73-D27DF67A8BF4}"/>
              </a:ext>
            </a:extLst>
          </p:cNvPr>
          <p:cNvSpPr txBox="1"/>
          <p:nvPr/>
        </p:nvSpPr>
        <p:spPr>
          <a:xfrm>
            <a:off x="879022" y="5521028"/>
            <a:ext cx="6204856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Jay Deshmukh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6962"/>
            <a:ext cx="53340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66962"/>
            <a:ext cx="53340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3395662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Primary Objective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10012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EHS is a web-based housing solution allowing users to study, compare, buy, and sell properties with maximum efficiency and zero paperwork.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67500" y="3395662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Key Values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0" y="3910012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Reducing physical paperwork, implementing password-secured asset information, and offering a free processing ecosystem for all users.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776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7765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PROJECT VISION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F15E836-E5E5-56D3-7371-037DB0D48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516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35559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457325"/>
            <a:ext cx="35559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457325"/>
            <a:ext cx="35559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350" y="4443413"/>
            <a:ext cx="11049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82651" y="2486025"/>
            <a:ext cx="29336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.NET 8.0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3000375"/>
            <a:ext cx="27939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C#  Framework for robust back-end logic and Web API integration.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4629101" y="2486025"/>
            <a:ext cx="29336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Azure Cloud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98950" y="3000375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Web Apps, Functions, Blob Storage, and Event Grid for scalability.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75552" y="2486025"/>
            <a:ext cx="29336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SQL &amp; EF Core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45400" y="3000375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SQL Server 2019 with Entity Framework Core Code-First approach.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5325" y="5686425"/>
            <a:ext cx="108013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Logic Apps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6200775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Workflow automation for "Smart Validation" of property details.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82713" y="1866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726" y="1866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75614" y="1866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1687" y="50673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TECHNOLOGY STACK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CFB255E-CBC8-08DE-67D6-0707597AB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952500" y="29241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Event-Driven Flow: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Properties uploaded to Blob Storage trigger Event Grid signals.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36861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Azure Functions: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5-minute timer triggers and data processing to SQL Server.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4481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Logic App Integration: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Smart validation checks against business rules before rejection or approval.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571500"/>
            <a:ext cx="50006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PROJECT STRUCTURE</a:t>
            </a:r>
            <a:endParaRPr dirty="0"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76200" cy="100965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A2DAF-F716-3C99-2CAE-B7600F2E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523746"/>
            <a:ext cx="6781800" cy="581050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476E1AD-A330-3DBF-9D41-7B37C9BB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5062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5062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5062"/>
            <a:ext cx="3492549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952500" y="3433762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Admin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730799" y="3433762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Owner/Seller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509099" y="3433762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Buyer/Consumer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8146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104900" y="39100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43000" y="39100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Verify/De-activate Property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04900" y="41957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43000" y="419576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View Property by Region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04900" y="44815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43000" y="44815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View Property by Owner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8146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4883199" y="39100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921299" y="39100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Register &amp; Add Property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883199" y="41957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921299" y="419576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Upload (Max 6) Images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883199" y="44815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921299" y="44815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Edit &amp; View Verified Lists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8146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661499" y="39100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99599" y="39100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Search &amp; Sort by Price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661499" y="41957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699599" y="419576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Manage Cart (Add/Delete)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61499" y="44815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699599" y="4481512"/>
            <a:ext cx="2540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Get Owner Contact Details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USE CASE ROLES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FB5AFF-1097-761A-855F-E398C2B20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571500" y="342900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743223" y="342900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171229" y="342900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3933825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743223" y="3933825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171229" y="3933825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443865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1743223" y="443865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171229" y="443865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1500" y="4943475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1743223" y="4943475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171229" y="4943475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71500" y="544830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743223" y="544830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171229" y="544830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CORE MODULES AND APPLICATION FEATURES</a:t>
            </a:r>
            <a:endParaRPr dirty="0"/>
          </a:p>
        </p:txBody>
      </p:sp>
      <p:sp>
        <p:nvSpPr>
          <p:cNvPr id="214" name="Google Shape;214;p19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4FB2E10-DFB0-DA5A-955D-229AB622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581D60-48DC-B63B-CA09-72B03EFB9D7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00200"/>
          <a:ext cx="10202733" cy="494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931">
                  <a:extLst>
                    <a:ext uri="{9D8B030D-6E8A-4147-A177-3AD203B41FA5}">
                      <a16:colId xmlns:a16="http://schemas.microsoft.com/office/drawing/2014/main" val="249364872"/>
                    </a:ext>
                  </a:extLst>
                </a:gridCol>
                <a:gridCol w="7488802">
                  <a:extLst>
                    <a:ext uri="{9D8B030D-6E8A-4147-A177-3AD203B41FA5}">
                      <a16:colId xmlns:a16="http://schemas.microsoft.com/office/drawing/2014/main" val="4028715454"/>
                    </a:ext>
                  </a:extLst>
                </a:gridCol>
              </a:tblGrid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Module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Description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1721954097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Users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Stores login credentials and user roles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3242800156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Seller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Manages property owner details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3743860633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Buyer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Stores buyer profile information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3205695186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Property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Holds property listings and metadata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3212830815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Images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Stores and manages property images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1903802490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Cart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Tracks buyer-selected properties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114839426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State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Maintains state-level location data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4215849184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City</a:t>
                      </a:r>
                    </a:p>
                  </a:txBody>
                  <a:tcPr marL="124922" marR="124922" marT="62461" marB="624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Maintains city-level location data</a:t>
                      </a:r>
                    </a:p>
                  </a:txBody>
                  <a:tcPr marL="124922" marR="124922" marT="62461" marB="62461" anchor="ctr"/>
                </a:tc>
                <a:extLst>
                  <a:ext uri="{0D108BD9-81ED-4DB2-BD59-A6C34878D82A}">
                    <a16:rowId xmlns:a16="http://schemas.microsoft.com/office/drawing/2014/main" val="17389756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>
          <a:extLst>
            <a:ext uri="{FF2B5EF4-FFF2-40B4-BE49-F238E27FC236}">
              <a16:creationId xmlns:a16="http://schemas.microsoft.com/office/drawing/2014/main" id="{F6CA3072-650C-D5CD-845B-09FF1F54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>
            <a:extLst>
              <a:ext uri="{FF2B5EF4-FFF2-40B4-BE49-F238E27FC236}">
                <a16:creationId xmlns:a16="http://schemas.microsoft.com/office/drawing/2014/main" id="{E2B38228-2D04-3AC7-0E7E-55E4B807F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19">
            <a:extLst>
              <a:ext uri="{FF2B5EF4-FFF2-40B4-BE49-F238E27FC236}">
                <a16:creationId xmlns:a16="http://schemas.microsoft.com/office/drawing/2014/main" id="{C5BBCD54-9605-765C-21EF-779C60CA2F92}"/>
              </a:ext>
            </a:extLst>
          </p:cNvPr>
          <p:cNvGraphicFramePr/>
          <p:nvPr/>
        </p:nvGraphicFramePr>
        <p:xfrm>
          <a:off x="571500" y="2471737"/>
          <a:ext cx="5334000" cy="2990850"/>
        </p:xfrm>
        <a:graphic>
          <a:graphicData uri="http://schemas.openxmlformats.org/drawingml/2006/table">
            <a:tbl>
              <a:tblPr firstRow="1" bandRow="1">
                <a:noFill/>
                <a:tableStyleId>{D460E1AB-BB35-482C-BDDD-501A9D334DDD}</a:tableStyleId>
              </a:tblPr>
              <a:tblGrid>
                <a:gridCol w="117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Attributes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UserName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Password,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UserType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SellerId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UserName, Phone, CityId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Property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PropertyId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Name, Type, PriceRange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BuyerId, PropertyId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PropertyId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ImageBlob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5093337B-47BC-10F4-C421-26AF8CA2D460}"/>
              </a:ext>
            </a:extLst>
          </p:cNvPr>
          <p:cNvSpPr/>
          <p:nvPr/>
        </p:nvSpPr>
        <p:spPr>
          <a:xfrm>
            <a:off x="571500" y="342900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5C12E6B5-3F78-E1D7-2182-98C18246B589}"/>
              </a:ext>
            </a:extLst>
          </p:cNvPr>
          <p:cNvSpPr/>
          <p:nvPr/>
        </p:nvSpPr>
        <p:spPr>
          <a:xfrm>
            <a:off x="1743223" y="342900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3E1D1AEC-1E09-C99E-2CE1-2FD61727020C}"/>
              </a:ext>
            </a:extLst>
          </p:cNvPr>
          <p:cNvSpPr/>
          <p:nvPr/>
        </p:nvSpPr>
        <p:spPr>
          <a:xfrm>
            <a:off x="3171229" y="342900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5E1890FD-6024-CE5F-B8B9-72C4B2268CA0}"/>
              </a:ext>
            </a:extLst>
          </p:cNvPr>
          <p:cNvSpPr/>
          <p:nvPr/>
        </p:nvSpPr>
        <p:spPr>
          <a:xfrm>
            <a:off x="571500" y="3933825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9C221AF1-8056-0357-AA54-DA2E184A93A1}"/>
              </a:ext>
            </a:extLst>
          </p:cNvPr>
          <p:cNvSpPr/>
          <p:nvPr/>
        </p:nvSpPr>
        <p:spPr>
          <a:xfrm>
            <a:off x="1743223" y="3933825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3A5888C1-1445-85E8-76E4-BA5A58BA7E3A}"/>
              </a:ext>
            </a:extLst>
          </p:cNvPr>
          <p:cNvSpPr/>
          <p:nvPr/>
        </p:nvSpPr>
        <p:spPr>
          <a:xfrm>
            <a:off x="3171229" y="3933825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A0D31791-2BCF-4FD6-3E35-7E31087AF19C}"/>
              </a:ext>
            </a:extLst>
          </p:cNvPr>
          <p:cNvSpPr/>
          <p:nvPr/>
        </p:nvSpPr>
        <p:spPr>
          <a:xfrm>
            <a:off x="571500" y="443865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0B3BC38B-CFDA-B8FC-E865-3B0EB72D9550}"/>
              </a:ext>
            </a:extLst>
          </p:cNvPr>
          <p:cNvSpPr/>
          <p:nvPr/>
        </p:nvSpPr>
        <p:spPr>
          <a:xfrm>
            <a:off x="1743223" y="443865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963DCA14-D765-7E99-75DB-040774103BF4}"/>
              </a:ext>
            </a:extLst>
          </p:cNvPr>
          <p:cNvSpPr/>
          <p:nvPr/>
        </p:nvSpPr>
        <p:spPr>
          <a:xfrm>
            <a:off x="3171229" y="443865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12B91CB0-5C95-3538-D816-87207C77D288}"/>
              </a:ext>
            </a:extLst>
          </p:cNvPr>
          <p:cNvSpPr/>
          <p:nvPr/>
        </p:nvSpPr>
        <p:spPr>
          <a:xfrm>
            <a:off x="571500" y="4943475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4AF762B9-5ED4-7A0D-5EB3-B84D651BD932}"/>
              </a:ext>
            </a:extLst>
          </p:cNvPr>
          <p:cNvSpPr/>
          <p:nvPr/>
        </p:nvSpPr>
        <p:spPr>
          <a:xfrm>
            <a:off x="1743223" y="4943475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D8AAF192-0896-C94D-19DD-723A7FFE6C99}"/>
              </a:ext>
            </a:extLst>
          </p:cNvPr>
          <p:cNvSpPr/>
          <p:nvPr/>
        </p:nvSpPr>
        <p:spPr>
          <a:xfrm>
            <a:off x="3171229" y="4943475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C5AF1C70-5BA5-2500-78BA-D18F5E85C0F5}"/>
              </a:ext>
            </a:extLst>
          </p:cNvPr>
          <p:cNvSpPr/>
          <p:nvPr/>
        </p:nvSpPr>
        <p:spPr>
          <a:xfrm>
            <a:off x="571500" y="5448300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>
            <a:extLst>
              <a:ext uri="{FF2B5EF4-FFF2-40B4-BE49-F238E27FC236}">
                <a16:creationId xmlns:a16="http://schemas.microsoft.com/office/drawing/2014/main" id="{A61CF6D6-874E-5426-F146-D6F950FFB5BC}"/>
              </a:ext>
            </a:extLst>
          </p:cNvPr>
          <p:cNvSpPr/>
          <p:nvPr/>
        </p:nvSpPr>
        <p:spPr>
          <a:xfrm>
            <a:off x="1743223" y="5448300"/>
            <a:ext cx="1428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7D2EB1E3-9A9C-7D5E-E89E-2B67822698EB}"/>
              </a:ext>
            </a:extLst>
          </p:cNvPr>
          <p:cNvSpPr/>
          <p:nvPr/>
        </p:nvSpPr>
        <p:spPr>
          <a:xfrm>
            <a:off x="3171229" y="5448300"/>
            <a:ext cx="2734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>
            <a:extLst>
              <a:ext uri="{FF2B5EF4-FFF2-40B4-BE49-F238E27FC236}">
                <a16:creationId xmlns:a16="http://schemas.microsoft.com/office/drawing/2014/main" id="{D56F2606-7B1A-B091-3DEC-AAAE3096CBE8}"/>
              </a:ext>
            </a:extLst>
          </p:cNvPr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DATA SCHEMA (ER)</a:t>
            </a:r>
            <a:endParaRPr/>
          </a:p>
        </p:txBody>
      </p:sp>
      <p:sp>
        <p:nvSpPr>
          <p:cNvPr id="214" name="Google Shape;214;p19">
            <a:extLst>
              <a:ext uri="{FF2B5EF4-FFF2-40B4-BE49-F238E27FC236}">
                <a16:creationId xmlns:a16="http://schemas.microsoft.com/office/drawing/2014/main" id="{C20C768C-D718-D66A-79A6-0E377226AA2F}"/>
              </a:ext>
            </a:extLst>
          </p:cNvPr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E315836-855D-2DF3-C0E0-7A087E072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7660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1A787-F6CB-15A0-B15F-A23DB3F5F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51" y="1371221"/>
            <a:ext cx="1007132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0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460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5334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95487"/>
            <a:ext cx="53340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52500" y="2376487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Property Verification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52500" y="2890837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Admins hold primary control. Only verified properties are listed publicly. If deactivated, a mandatory "Reason for Deactivation" must be logged.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67500" y="2376487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Regional Analysis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67500" y="2890837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Ability to filter and analyze the entire housing market database by State, City, or specific Regions to ensure balanced inventory.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333500" y="4795837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Automated validation via Logic Apps reduces manual verification effort.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333500" y="5272087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Unified dashboard for viewing all listings by specific owners.</a:t>
            </a:r>
            <a:endParaRPr dirty="0"/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8339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3101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ADMIN CONTROLS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06C1949-A114-4F55-E1A9-064B8B094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3869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77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355595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24087"/>
            <a:ext cx="355595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24087"/>
            <a:ext cx="3556099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952500" y="3252787"/>
            <a:ext cx="29336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Async Integration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952500" y="3767137"/>
            <a:ext cx="2793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Managing the asynchronous flow between Azure Event Grid and Function Apps for property uploads.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4698950" y="3252787"/>
            <a:ext cx="29336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Code-First EF</a:t>
            </a:r>
            <a:endParaRPr dirty="0"/>
          </a:p>
        </p:txBody>
      </p:sp>
      <p:sp>
        <p:nvSpPr>
          <p:cNvPr id="257" name="Google Shape;257;p22"/>
          <p:cNvSpPr txBox="1"/>
          <p:nvPr/>
        </p:nvSpPr>
        <p:spPr>
          <a:xfrm>
            <a:off x="4698950" y="3767137"/>
            <a:ext cx="2793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Handling complex migrations and foreign key constraints between the Buyer, Seller, and Property tables.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445400" y="3252787"/>
            <a:ext cx="29338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F7A"/>
                </a:solidFill>
                <a:latin typeface="Urbanist"/>
                <a:ea typeface="Urbanist"/>
                <a:cs typeface="Urbanist"/>
                <a:sym typeface="Urbanist"/>
              </a:rPr>
              <a:t>Smart Validation</a:t>
            </a:r>
            <a:endParaRPr dirty="0"/>
          </a:p>
        </p:txBody>
      </p:sp>
      <p:sp>
        <p:nvSpPr>
          <p:cNvPr id="259" name="Google Shape;259;p22"/>
          <p:cNvSpPr txBox="1"/>
          <p:nvPr/>
        </p:nvSpPr>
        <p:spPr>
          <a:xfrm>
            <a:off x="8445400" y="3767137"/>
            <a:ext cx="27940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Designing Logic App workflows that accurately reject incorrect data and send appropriate notifications.</a:t>
            </a:r>
            <a:endParaRPr dirty="0"/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6336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26336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5400" y="2633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SPRINT CHALLENGES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B0C1C8D-B990-212C-4606-2F89071C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3869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21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952500" y="2747962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AI Price Prediction: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Machine learning models to suggest optimal sell/rent prices based on landmarks.</a:t>
            </a:r>
            <a:endParaRPr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52500" y="3509962"/>
            <a:ext cx="4572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Real Time Features: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Live chat B/W Buyers and Sellers and Notification System</a:t>
            </a:r>
            <a:endParaRPr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952500" y="4271962"/>
            <a:ext cx="4572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ower BI Integration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Dashboards</a:t>
            </a:r>
            <a:endParaRPr dirty="0"/>
          </a:p>
        </p:txBody>
      </p:sp>
      <p:sp>
        <p:nvSpPr>
          <p:cNvPr id="274" name="Google Shape;274;p23"/>
          <p:cNvSpPr txBox="1"/>
          <p:nvPr/>
        </p:nvSpPr>
        <p:spPr>
          <a:xfrm>
            <a:off x="762000" y="571500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70AD"/>
                </a:solidFill>
                <a:latin typeface="Urbanist"/>
                <a:ea typeface="Urbanist"/>
                <a:cs typeface="Urbanist"/>
                <a:sym typeface="Urbanist"/>
              </a:rPr>
              <a:t>FUTURE SCOPE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A359DBA-1BEE-752E-3FCD-EFF33189F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3869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295275" y="13716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30099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DE0F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Thank you for your attention!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571500" y="45339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Group Project | .NET Core Azure Sprint</a:t>
            </a: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55C7F9D-CA08-AA2C-C088-97554D920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615" y="238694"/>
            <a:ext cx="681769" cy="72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530</Words>
  <Application>Microsoft Office PowerPoint</Application>
  <PresentationFormat>Widescreen</PresentationFormat>
  <Paragraphs>110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Ravikant Ukey, Aharnish</cp:lastModifiedBy>
  <cp:revision>2</cp:revision>
  <dcterms:modified xsi:type="dcterms:W3CDTF">2026-05-12T09:10:24Z</dcterms:modified>
</cp:coreProperties>
</file>